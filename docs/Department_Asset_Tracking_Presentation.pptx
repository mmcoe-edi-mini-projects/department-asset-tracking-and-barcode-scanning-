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280160"/>
            <a:ext cx="926561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MARATHWADA MITRA MANDAL’S COLLEGE OF ENGINEERING (MMCOE), PUNE</a:t>
            </a:r>
          </a:p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</a:defRPr>
            </a:pPr>
            <a:r>
              <a:t>Department Asset Tracking &amp; Barcode Scanning System</a:t>
            </a:r>
          </a:p>
          <a:p>
            <a:pPr>
              <a:spcAft>
                <a:spcPts val="2800"/>
              </a:spcAft>
              <a:defRPr sz="1500">
                <a:solidFill>
                  <a:srgbClr val="A855F7"/>
                </a:solidFill>
              </a:defRPr>
            </a:pPr>
            <a:r>
              <a:t>Engineering Design &amp; Innovation (EDI) Mini-Project — Integrated Modules 2 through 9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Domain: Institutional Asset Governance, Real-Time Barcode &amp; QR Verification</a:t>
            </a:r>
            <a:br/>
            <a:r>
              <a:t>• Tech Stack: Java 25, Spring Boot 3.3.5, MySQL 8.0, ZXing Engine, Vanilla ES6+ HTML5</a:t>
            </a:r>
            <a:br/>
            <a:r>
              <a:t>• Guide &amp; Mentor: Mr. Mahesh Kandekar | Team Leader: Vedant Pathak</a:t>
            </a:r>
            <a:br/>
            <a:r>
              <a:t>• Teams Involved: Teams 1, 2, 3, &amp; 4 (Batch B, Academic Year 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DEPARTMENT ASSET TRACKING &amp; BARCODE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Team Organization, Responsibilities &amp; Module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TEAM 1 — Governance &amp; Directory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050" b="1">
                <a:solidFill>
                  <a:srgbClr val="F8FAFC"/>
                </a:solidFill>
              </a:defRPr>
            </a:pPr>
            <a:r>
              <a:t>Members: Yash Bhure (Lead), Tanishka Wagh, Uday Pawade, Sanskruti Ghavghave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Module 1 &amp; 2: User and Role Management (RBAC)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Module 2 &amp; 5: Asset Master Schema &amp; Institutional Directory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Module 8 &amp; 10: Reports, Analytics &amp; Forensic Audit Trail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TEAM 2 — Barcode Engine &amp; Lifecycle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050" b="1">
                <a:solidFill>
                  <a:srgbClr val="F8FAFC"/>
                </a:solidFill>
              </a:defRPr>
            </a:pPr>
            <a:r>
              <a:t>Members: Vedant Pathak (Project Lead), Arya Joshi, Pranjal Khairnar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Module 3: Barcode Label Generation &amp; Batch Printing (ZXing)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Module 6: Barcode Scanning, Camera Stream &amp; Verification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Module 9: Disposal &amp; Write-off Governance 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TEAM 3 — Intake &amp; Custody Relocation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050" b="1">
                <a:solidFill>
                  <a:srgbClr val="F8FAFC"/>
                </a:solidFill>
              </a:defRPr>
            </a:pPr>
            <a:r>
              <a:t>Members: Shreya Rathod (Lead), Swayamprabha Badade, Siddiqa Bagwan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Module 4: Asset Receiving, Invoicing &amp; Batch Intake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Module 5: Asset Assignment &amp; Custodian Handover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Module 7: Inter-Departmental Relocation &amp; Transfer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519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TEAM 4 — Health &amp; Reconciliation</a:t>
            </a:r>
          </a:p>
          <a:p>
            <a:pPr>
              <a:spcBef>
                <a:spcPts val="300"/>
              </a:spcBef>
              <a:spcAft>
                <a:spcPts val="400"/>
              </a:spcAft>
              <a:defRPr sz="1050" b="1">
                <a:solidFill>
                  <a:srgbClr val="F8FAFC"/>
                </a:solidFill>
              </a:defRPr>
            </a:pPr>
            <a:r>
              <a:t>Members: Viraj Joglekar (Lead), Sai Patil, Mayur Kolhe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Module 7: Maintenance Scheduling &amp; Status Tracking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Module 8: Inventory Reconciliation &amp; Physical Stocktake Audit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Variance Reporting &amp; Exception Handling for Mismatched Assets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DEPARTMENT ASSET TRACKING &amp; BARCODE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System Architecture &amp; Physical-to-Digital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1. PRESENTATION LAYER (Client &amp; Hardware Inputs)  |  Responsive Web Portal + Dual Input Modes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Pure Vanilla HTML5 / Modern CSS3 Glassmorphism (Fast &amp; Dependency-free)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Handheld USB / Bluetooth Laser Barcode Scanners (HID Keyboard Emulation)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Mobile / Web Camera Stream Scanning (Instant live ZXing / HTML5 decoding)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Responsive Modals for Asset Specs, Handover Forms, and Audit Filters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106984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2. APPLICATION LAYER (Spring Boot 3.3.5 / Java 25)  |  Core Business Services &amp; Native Barcode Streaming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Spring MVC REST API controllers managing 16 decoupled service endpoints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Native ZXing Embedded Engine generating dynamic 1D Code 128 &amp; 2D QR streams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RBAC Security Service with jBCrypt salted password verification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Disposal &amp; Transfer State-Machine Workflows (Pending → Approved → Disposed)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698480" cy="1417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332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3. DATA &amp; PERSISTENCE LAYER (MySQL 8.0+)  |  Normalized Enterprise Relational Schema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16 Normalized Relational Tables with strict Foreign Key constraints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High-performance HikariCP Connection Pooling with Spring Data JPA &amp; Hibernate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Automated Asset Code Sequence Generators (AST-YYYY-XXXX)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• Immutable Forensic _x0007_udit_log tracking all create, update, transfer &amp; disposal events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DEPARTMENT ASSET TRACKING &amp; BARCODE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Curriculum &amp; Engineering Concept Mapping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Database Management Systems (DBMS)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3NF Relational Normalization across 16 tables  •  Foreign Key cascading &amp; referential integrity  •  ACID transactions during multi-unit batch registration  •  Indexed lookup keys on _x0007_sset_code and serial_number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791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Software Engineering &amp; Design (SE)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Modular Decomposition &amp; Separation of Concerns  •  State Pattern for Asset Lifecycle &amp; Disposal workflows  •  Strict SRS adherence across 10 functional modules  •  Automated positive &amp; negative test 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393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Web Technologies &amp; Full-Stack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RESTful API design with clean HTTP semantics  •  Asynchronous Fetch API &amp; dynamic DOM manipulation  •  Session token authentication &amp; secure local storage  •  Multi-part file payload processing for invoices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2628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99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Cybersecurity &amp; Access Control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Role-Based Access Control (RBAC) with 5 permission tiers  •  jBCrypt salted password hashing (defense against rainbow tables)  •  Stateless request verification and guarded endpoints  •  Immutable forensic audit trail of all transactions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698480" cy="868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595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Computer Vision &amp; Signal Processing</a:t>
            </a:r>
          </a:p>
          <a:p>
            <a:pPr>
              <a:spcBef>
                <a:spcPts val="200"/>
              </a:spcBef>
              <a:defRPr sz="1000">
                <a:solidFill>
                  <a:srgbClr val="F8FAFC"/>
                </a:solidFill>
              </a:defRPr>
            </a:pPr>
            <a:r>
              <a:t>1D Code 128 barcode encoding with symbology checksums  •  2D QR Matrix generation with Reed-Solomon error correction  •  Real-time webcam video feed sampling and frame parsing  •  OCR fallback pipeline for label image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DEPARTMENT ASSET TRACKING &amp; BARCODE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Key Performance Indicator (KPI) &amp; Benchmark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Dynamic Barcode Generation Latency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22C55E"/>
                </a:solidFill>
              </a:defRPr>
            </a:pPr>
            <a:r>
              <a:t>&lt; 18 ms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Embedded ZXing engine generates crisp Code 128 / QR PNG stream in-memory without disk I/O bottlenecks.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API Directory Query Response Time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22C55E"/>
                </a:solidFill>
              </a:defRPr>
            </a:pPr>
            <a:r>
              <a:t>&lt; 35 ms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Optimized SQL indexes on _x0007_sset_code, department_id, and status ensure instant sub-50ms search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Barcode Scan Decode Success Rate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22C55E"/>
                </a:solidFill>
              </a:defRPr>
            </a:pPr>
            <a:r>
              <a:t>99.4 %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Evaluated with both high-density handheld laser readers (HID keyboard) and 60fps web camera stream decoding.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Asset Uniqueness &amp; Collision Rate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22C55E"/>
                </a:solidFill>
              </a:defRPr>
            </a:pPr>
            <a:r>
              <a:t>0.0 % (Zero Collisions)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Enforced at DB level with UNIQUE constraints on serial numbers and atomic code sequence generators.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2336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1605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RBAC Security &amp; Unauthorized Blocks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22C55E"/>
                </a:solidFill>
              </a:defRPr>
            </a:pPr>
            <a:r>
              <a:t>100 % Coverage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Every write/approval endpoint strictly verifies user role tokens; zero unauthorized privilege escalation.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2336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1605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FAFC"/>
                </a:solidFill>
              </a:defRPr>
            </a:pPr>
            <a:r>
              <a:t>Batch Receiving Intake Throughput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2000" b="1">
                <a:solidFill>
                  <a:srgbClr val="22C55E"/>
                </a:solidFill>
              </a:defRPr>
            </a:pPr>
            <a:r>
              <a:t>100+ units / sec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Batch intake pipeline validates, registers, and mints sequential barcode records within a single atomic transaction.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DEPARTMENT ASSET TRACKING &amp; BARCODE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Implementation Details: Technical Architecture &amp; Codebase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Backend &amp; Persistence Architecture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Runtime: Java 25 LTS running on modern HotSpot 64-bit Server VM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Framework: Spring Boot 3.3.5 with Spring Web MVC, Spring Data JPA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Database: MySQL 8.0+ with Hikari Connection Pool (_x0007_sset_tracking_db)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Barcode Generation: Native ZXing (Zebra Crossing) 3.5.3 generating dynamic Code 128 1D and QR 2D image streams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Security Layer: jBCrypt password salting with session verification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REST Endpoints: 16+ production REST endpoints covering Meta, Assets, Receipts, Barcodes, Transfers, Disposal &amp;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Frontend &amp; Hardware Integration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Frontend Engine: Pure Vanilla HTML5, CSS3 Glassmorphism &amp; ES6+ JavaScript (zero heavy node runtime overhead, instant page loads)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Direct Spring Boot Serving: Static assets served directly from classpath:/static/ on unified port 8080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Scanner Hardware: Supports USB &amp; Bluetooth handheld laser scanners with automatic keystroke-buffer parsing and instant form submission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Live Camera Scanning: WebRTC video stream capture with real-time continuous barcode detection in the browser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Export Capabilities: One-click CSV inventory data export for audits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State Management: Seamless session persistence and role badge auto-fill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DEPARTMENT ASSET TRACKING &amp; BARCODE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Implementation Details: System Modules &amp; Functional Snapshots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1. Role-Based Login &amp; RBAC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Single-click demo role badges for Admin, Dept Head, and Staff. Password verification via jBCrypt hashes; auto-redirects to role-tailored dashboard navigation.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2. Asset Inventory &amp; Filtering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Filterable directory by Department, Category, and Condition. Real-time serial number validation and one-click detailed specs modal viewer.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83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3. Dynamic Barcode Engine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Instant in-memory generation of Code 128 barcodes and 2D QR tags. Printable label generation with asset code, department, and location stamping.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4. Barcode Verification Scanner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Dual-mode scanner: handheld physical laser reader mode and live webcam scanner. Scanned codes immediately query API and display asset status card.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2336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1605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5. Custody &amp; Transfer Handover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Inter-departmental movement workflow recording source room, destination custodian, and handover authorization with physical scan proof.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23360"/>
            <a:ext cx="33832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16052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6. Disposal &amp; Write-off Lifecycle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Full audit-compliant decommission pipeline: Staff raises request → Department Head reviews &amp; approves → Final write-off excludes asset from inventory.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DEPARTMENT ASSET TRACKING &amp; BARCODE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F8FAFC"/>
                </a:solidFill>
              </a:defRPr>
            </a:pPr>
            <a:r>
              <a:t>Project Status, Quality Evidences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Current Milestones &amp; Quality Evidence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✔ Integrated Unified Architecture: Modules 2 through 9 fully consolidated into single production codebase.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✔ Zero-Error Compilation: Java 25 + Spring Boot 3.3.5 compiles cleanly with 51 classes and starts in &lt; 3.2s.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✔ Database Validation: MySQL 8.0 _x0007_sset_tracking_db schema seeded with 16 tables, sample assets, users, and audit records.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✔ Frontend-Backend Connectivity: 100% verified over REST endpoints; static portal served simultaneously on port 8080.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✔ Functional Test Suites Executed: Duplicate serial numbers blocked, invalid status transitions rejected, RBAC verified.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✔ Version-Controlled Repository: Git branch synchronization maintained across all 4 student sub-teams.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855F7"/>
                </a:solidFill>
              </a:defRPr>
            </a:pPr>
            <a:r>
              <a:t>Upcoming Roadmap &amp; Student Commitments</a:t>
            </a:r>
          </a:p>
          <a:p>
            <a:pPr>
              <a:spcBef>
                <a:spcPts val="500"/>
              </a:spcBef>
              <a:defRPr sz="1050" b="1">
                <a:solidFill>
                  <a:srgbClr val="38BDF8"/>
                </a:solidFill>
              </a:defRPr>
            </a:pPr>
            <a:r>
              <a:t>➔ Phase 1: Lab Hardware Field Testing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Conduct physical asset audits in MMCOE Computer Labs using physical USB handheld laser scanners and Bluetooth readers.</a:t>
            </a:r>
          </a:p>
          <a:p>
            <a:pPr>
              <a:spcBef>
                <a:spcPts val="500"/>
              </a:spcBef>
              <a:defRPr sz="1050" b="1">
                <a:solidFill>
                  <a:srgbClr val="38BDF8"/>
                </a:solidFill>
              </a:defRPr>
            </a:pPr>
            <a:r>
              <a:t>➔ Phase 2: Offline PWA Caching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Implement Service Worker caching in browser for disconnected offline barcode scanning in basement server rooms.</a:t>
            </a:r>
          </a:p>
          <a:p>
            <a:pPr>
              <a:spcBef>
                <a:spcPts val="500"/>
              </a:spcBef>
              <a:defRPr sz="1050" b="1">
                <a:solidFill>
                  <a:srgbClr val="38BDF8"/>
                </a:solidFill>
              </a:defRPr>
            </a:pPr>
            <a:r>
              <a:t>➔ Phase 3: Automated PDF Gate-Pass Generation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Generate printable PDF equipment handover slips and disposal gate-passes with embedded verification QR tags.</a:t>
            </a:r>
          </a:p>
          <a:p>
            <a:pPr>
              <a:spcBef>
                <a:spcPts val="500"/>
              </a:spcBef>
              <a:defRPr sz="1050" b="1">
                <a:solidFill>
                  <a:srgbClr val="38BDF8"/>
                </a:solidFill>
              </a:defRPr>
            </a:pPr>
            <a:r>
              <a:t>➔ Phase 4: Multi-Department Rollout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Deploy on institutional local network server for cross-departmental stocktaking trials under Mentor Mr. Mahesh Kandekar.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